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embeddedFontLst>
    <p:embeddedFont>
      <p:font typeface="Calibri" panose="020F0502020204030204"/>
      <p:regular r:id="rId19"/>
      <p:bold r:id="rId20"/>
      <p:italic r:id="rId21"/>
      <p:boldItalic r:id="rId22"/>
    </p:embeddedFont>
    <p:embeddedFont>
      <p:font typeface="Inter" panose="02000503000000020004"/>
      <p:bold r:id="rId23"/>
      <p:boldItalic r:id="rId24"/>
    </p:embeddedFont>
    <p:embeddedFont>
      <p:font typeface="inter" panose="02000503000000020004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" name="Google Shape;18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" name="Google Shape;68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" name="Google Shape;125;p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7" name="Google Shape;137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1" name="Google Shape;161;p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1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b87d4b708_0_1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8b87d4b708_0_15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0" name="Google Shape;200;g38b87d4b708_0_15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b87d4b708_0_3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8b87d4b708_0_3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8" name="Google Shape;208;g38b87d4b708_0_3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496050" y="675518"/>
            <a:ext cx="81519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Inter" panose="02000503000000020004"/>
              <a:buNone/>
            </a:pPr>
            <a:r>
              <a:rPr lang="en-US" sz="2950" b="1" i="0" u="sng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Product Recommendation System </a:t>
            </a:r>
            <a:r>
              <a:rPr lang="en-US" sz="2950" b="1" u="sng"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Using TF-IDF and Cosine Similarity</a:t>
            </a:r>
            <a:endParaRPr sz="2950" b="0" i="0" u="sng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232750" y="1923255"/>
            <a:ext cx="6223500" cy="29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25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50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NAME-CHANDNI WAKIL</a:t>
            </a:r>
            <a:endParaRPr lang="en-US" sz="1500" b="0" i="0" u="none" strike="noStrike" cap="none">
              <a:solidFill>
                <a:srgbClr val="27252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25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50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ROLL NUMBER</a:t>
            </a:r>
            <a:r>
              <a:rPr lang="en-US" sz="1500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-16500222027</a:t>
            </a:r>
            <a:endParaRPr sz="1500">
              <a:solidFill>
                <a:srgbClr val="27252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25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500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REGISTRATION NUMBER-</a:t>
            </a:r>
            <a:r>
              <a:rPr lang="en-US" sz="15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221650110122 </a:t>
            </a:r>
            <a:endParaRPr sz="1500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25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5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PAPER NAME-PROJECT-III</a:t>
            </a:r>
            <a:endParaRPr sz="1500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25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5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Paper Code-PROJ-CS881</a:t>
            </a:r>
            <a:endParaRPr lang="en-US" sz="1500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25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endParaRPr lang="en-US" sz="1500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lnSpc>
                <a:spcPct val="0"/>
              </a:lnSpc>
              <a:spcBef>
                <a:spcPts val="125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50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GUIDE NAME-AMIT DUTTA</a:t>
            </a:r>
            <a:endParaRPr lang="en-US" sz="15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20000"/>
              </a:lnSpc>
              <a:spcBef>
                <a:spcPts val="125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500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COLLEGE NAME-</a:t>
            </a:r>
            <a:r>
              <a:rPr lang="en-US" sz="15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ST. THOMAS' COLLEGE OF ENGINEERING AND TECHNOLOGY</a:t>
            </a:r>
            <a:endParaRPr sz="15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endParaRPr sz="1500">
              <a:solidFill>
                <a:srgbClr val="27252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7853700" y="4812030"/>
            <a:ext cx="1290300" cy="34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570225" y="2271968"/>
            <a:ext cx="1933575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496119" y="591815"/>
            <a:ext cx="8151763" cy="885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Inter" panose="02000503000000020004"/>
              <a:buNone/>
            </a:pPr>
            <a:r>
              <a:rPr lang="en-US" sz="2700" b="1" i="0" u="sng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Problem: Too Many Products, Too Little Precision</a:t>
            </a:r>
            <a:endParaRPr lang="en-US" sz="2700" b="1" i="0" u="sng" strike="noStrike" cap="none">
              <a:solidFill>
                <a:srgbClr val="00000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496119" y="1690390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29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Modern e-commerce platforms host thousands of products, making it difficult for users to quickly find relevant items. Current search tools fall short.</a:t>
            </a:r>
            <a:endParaRPr sz="129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496119" y="2303487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Google Shape;32;p5"/>
          <p:cNvSpPr/>
          <p:nvPr/>
        </p:nvSpPr>
        <p:spPr>
          <a:xfrm>
            <a:off x="642640" y="2450009"/>
            <a:ext cx="37119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Large Catalogs</a:t>
            </a:r>
            <a:endParaRPr lang="en-US" sz="1350" b="1" i="0" u="none" strike="noStrike" cap="none">
              <a:solidFill>
                <a:srgbClr val="27252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642640" y="2756520"/>
            <a:ext cx="3711922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10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Thousands of SKUs make manual browsing impractical.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4642842" y="2303487"/>
            <a:ext cx="4005039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" name="Google Shape;35;p5"/>
          <p:cNvSpPr/>
          <p:nvPr/>
        </p:nvSpPr>
        <p:spPr>
          <a:xfrm>
            <a:off x="4789363" y="2450009"/>
            <a:ext cx="3711997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Inaccurate Search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4789363" y="2756520"/>
            <a:ext cx="3711997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10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Keyword matching fails when similar products use different wording.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496119" y="3498428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5"/>
          <p:cNvSpPr/>
          <p:nvPr/>
        </p:nvSpPr>
        <p:spPr>
          <a:xfrm>
            <a:off x="642640" y="3644950"/>
            <a:ext cx="37119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Wasted Time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42640" y="3951461"/>
            <a:ext cx="3711922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10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Users spend excessive time searching instead of discovering.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4642842" y="3498428"/>
            <a:ext cx="4005039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Google Shape;41;p5"/>
          <p:cNvSpPr/>
          <p:nvPr/>
        </p:nvSpPr>
        <p:spPr>
          <a:xfrm>
            <a:off x="4789363" y="3644950"/>
            <a:ext cx="3711997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Need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789363" y="3951461"/>
            <a:ext cx="3711997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10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 smarter, content-aware recommendation system is essential.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7853700" y="4812030"/>
            <a:ext cx="1290300" cy="34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496119" y="475357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Inter" panose="02000503000000020004"/>
              <a:buNone/>
            </a:pPr>
            <a:r>
              <a:rPr lang="en-US" sz="2750" b="1" i="0" u="sng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Existing System vs. Proposed System</a:t>
            </a:r>
            <a:endParaRPr sz="2750" b="0" i="0" u="sng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496119" y="1272704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Existing System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496119" y="1635919"/>
            <a:ext cx="3902943" cy="1055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Char char="•"/>
            </a:pPr>
            <a:r>
              <a:rPr lang="en-US" sz="110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Keyword-based search only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Char char="•"/>
            </a:pPr>
            <a:r>
              <a:rPr lang="en-US" sz="110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Exact word matching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Char char="•"/>
            </a:pPr>
            <a:r>
              <a:rPr lang="en-US" sz="110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Less accurate results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Char char="•"/>
            </a:pPr>
            <a:r>
              <a:rPr lang="en-US" sz="110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Time-consuming discovery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4647605" y="1130945"/>
            <a:ext cx="4107000" cy="1610400"/>
          </a:xfrm>
          <a:prstGeom prst="roundRect">
            <a:avLst>
              <a:gd name="adj" fmla="val 6338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" name="Google Shape;53;p6"/>
          <p:cNvSpPr/>
          <p:nvPr/>
        </p:nvSpPr>
        <p:spPr>
          <a:xfrm>
            <a:off x="4789363" y="1272704"/>
            <a:ext cx="3823618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Proposed System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4789363" y="1635919"/>
            <a:ext cx="3823618" cy="1055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 panose="02000503000000020004"/>
              <a:buChar char="•"/>
            </a:pPr>
            <a:r>
              <a:rPr lang="en-US" sz="11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Content-Based Recommendation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 panose="02000503000000020004"/>
              <a:buChar char="•"/>
            </a:pPr>
            <a:r>
              <a:rPr lang="en-US" sz="11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Understands textual similarity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 panose="02000503000000020004"/>
              <a:buChar char="•"/>
            </a:pPr>
            <a:r>
              <a:rPr lang="en-US" sz="11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More relevant recommendations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3520" marR="0" lvl="0" indent="-22352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 panose="02000503000000020004"/>
              <a:buChar char="•"/>
            </a:pPr>
            <a:r>
              <a:rPr lang="en-US" sz="110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Faster product discovery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496119" y="2954015"/>
            <a:ext cx="8151763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Core Techniques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96119" y="3388072"/>
            <a:ext cx="8151763" cy="1279996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" name="Google Shape;57;p6"/>
          <p:cNvSpPr/>
          <p:nvPr/>
        </p:nvSpPr>
        <p:spPr>
          <a:xfrm>
            <a:off x="500881" y="3392835"/>
            <a:ext cx="4071119" cy="1270471"/>
          </a:xfrm>
          <a:prstGeom prst="rect">
            <a:avLst/>
          </a:prstGeom>
          <a:solidFill>
            <a:srgbClr val="DADB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" name="Google Shape;58;p6"/>
          <p:cNvSpPr/>
          <p:nvPr/>
        </p:nvSpPr>
        <p:spPr>
          <a:xfrm>
            <a:off x="642640" y="3534594"/>
            <a:ext cx="3787601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TF-IDF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642640" y="3841105"/>
            <a:ext cx="3787601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10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Term Frequency–Inverse Document Frequency — converts product descriptions into weighted feature vectors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4572000" y="3392835"/>
            <a:ext cx="4071119" cy="1270471"/>
          </a:xfrm>
          <a:prstGeom prst="rect">
            <a:avLst/>
          </a:prstGeom>
          <a:solidFill>
            <a:srgbClr val="DADB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" name="Google Shape;61;p6"/>
          <p:cNvSpPr/>
          <p:nvPr/>
        </p:nvSpPr>
        <p:spPr>
          <a:xfrm>
            <a:off x="4572000" y="3392835"/>
            <a:ext cx="19050" cy="1270471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" name="Google Shape;62;p6"/>
          <p:cNvSpPr/>
          <p:nvPr/>
        </p:nvSpPr>
        <p:spPr>
          <a:xfrm>
            <a:off x="4713759" y="3534594"/>
            <a:ext cx="3787601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Cosine Similarity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713759" y="3841105"/>
            <a:ext cx="3787601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10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Measures the angle between vectors to quantify how similar two product descriptions are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7853700" y="4800600"/>
            <a:ext cx="1290300" cy="34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/>
          <p:nvPr/>
        </p:nvSpPr>
        <p:spPr>
          <a:xfrm>
            <a:off x="496119" y="409947"/>
            <a:ext cx="8151763" cy="429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 panose="02000503000000020004"/>
              <a:buNone/>
            </a:pPr>
            <a:r>
              <a:rPr lang="en-US" sz="2700" b="1" i="0" u="sng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Project </a:t>
            </a:r>
            <a:r>
              <a:rPr lang="en-US" sz="2750" b="1" i="0" u="sng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Objectives</a:t>
            </a:r>
            <a:endParaRPr sz="2750" b="0" i="0" u="sng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1" name="Google Shape;71;p7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96119" y="1038597"/>
            <a:ext cx="8151763" cy="82398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7"/>
          <p:cNvSpPr/>
          <p:nvPr/>
        </p:nvSpPr>
        <p:spPr>
          <a:xfrm>
            <a:off x="684461" y="1321817"/>
            <a:ext cx="205978" cy="257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 panose="02000503000000020004"/>
              <a:buNone/>
            </a:pPr>
            <a:r>
              <a:rPr lang="en-US" sz="160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1197471" y="1194941"/>
            <a:ext cx="7294066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Build a Recommendation Engine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1197471" y="1489249"/>
            <a:ext cx="7294066" cy="2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 panose="02000503000000020004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Develop a content-based system that recommends products using description similarity.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5" name="Google Shape;75;p7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96119" y="1995562"/>
            <a:ext cx="8151763" cy="82398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/>
          <p:nvPr/>
        </p:nvSpPr>
        <p:spPr>
          <a:xfrm>
            <a:off x="684461" y="2278782"/>
            <a:ext cx="205978" cy="257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 panose="02000503000000020004"/>
              <a:buNone/>
            </a:pPr>
            <a:r>
              <a:rPr lang="en-US" sz="160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197471" y="2151906"/>
            <a:ext cx="7294066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Improve Product Discovery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1197471" y="2446213"/>
            <a:ext cx="7294066" cy="2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 panose="02000503000000020004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Reduce user search effort by surfacing relevant items automatically.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9" name="Google Shape;79;p7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96119" y="2952527"/>
            <a:ext cx="8151763" cy="823987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7"/>
          <p:cNvSpPr/>
          <p:nvPr/>
        </p:nvSpPr>
        <p:spPr>
          <a:xfrm>
            <a:off x="684461" y="3235747"/>
            <a:ext cx="205978" cy="257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 panose="02000503000000020004"/>
              <a:buNone/>
            </a:pPr>
            <a:r>
              <a:rPr lang="en-US" sz="160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1197471" y="3108871"/>
            <a:ext cx="7294066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Top-5 Recommendations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1197471" y="3403178"/>
            <a:ext cx="7294066" cy="2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 panose="02000503000000020004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Generate and display the five most similar products for any selected item.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83" name="Google Shape;83;p7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96119" y="3909492"/>
            <a:ext cx="8151763" cy="82398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7"/>
          <p:cNvSpPr/>
          <p:nvPr/>
        </p:nvSpPr>
        <p:spPr>
          <a:xfrm>
            <a:off x="684461" y="4192712"/>
            <a:ext cx="205978" cy="257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 panose="02000503000000020004"/>
              <a:buNone/>
            </a:pPr>
            <a:r>
              <a:rPr lang="en-US" sz="160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1197471" y="4065836"/>
            <a:ext cx="7294066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Simple Web Interface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1197471" y="4360143"/>
            <a:ext cx="7294066" cy="21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 panose="02000503000000020004"/>
              <a:buNone/>
            </a:pPr>
            <a:r>
              <a:rPr lang="en-US" sz="10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Deliver a clean, accessible Flask-based web application for end users.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7853700" y="4800600"/>
            <a:ext cx="1290300" cy="34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/>
          <p:nvPr/>
        </p:nvSpPr>
        <p:spPr>
          <a:xfrm>
            <a:off x="496119" y="645690"/>
            <a:ext cx="81519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Inter" panose="02000503000000020004"/>
              <a:buNone/>
            </a:pPr>
            <a:r>
              <a:rPr lang="en-US" sz="2850" b="1" i="0" u="sng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Technology Stack</a:t>
            </a:r>
            <a:endParaRPr sz="2850" b="0" i="0" u="sng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4" name="Google Shape;94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96119" y="1572369"/>
            <a:ext cx="283518" cy="28351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/>
          <p:cNvSpPr/>
          <p:nvPr/>
        </p:nvSpPr>
        <p:spPr>
          <a:xfrm>
            <a:off x="496119" y="2033067"/>
            <a:ext cx="3987254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Frontend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496119" y="2339578"/>
            <a:ext cx="3987254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20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HTML · CSS · JavaScript — responsive, user-friendly interface for product selection and results display.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7" name="Google Shape;97;p8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660553" y="1572369"/>
            <a:ext cx="283518" cy="28351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8"/>
          <p:cNvSpPr/>
          <p:nvPr/>
        </p:nvSpPr>
        <p:spPr>
          <a:xfrm>
            <a:off x="4660553" y="2033067"/>
            <a:ext cx="3987329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Backend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4660553" y="2339578"/>
            <a:ext cx="3987329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20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Flask · Python — lightweight web framework handling API logic and recommendation processing.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0" name="Google Shape;100;p8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8"/>
          <p:cNvSpPr/>
          <p:nvPr/>
        </p:nvSpPr>
        <p:spPr>
          <a:xfrm>
            <a:off x="496119" y="3537421"/>
            <a:ext cx="3987254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Libraries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496119" y="3843933"/>
            <a:ext cx="3987254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20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Pandas · NumPy · Scikit-learn — data manipulation, numerical computing, and ML vectorization.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3" name="Google Shape;103;p8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660553" y="3076724"/>
            <a:ext cx="283518" cy="283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8"/>
          <p:cNvSpPr/>
          <p:nvPr/>
        </p:nvSpPr>
        <p:spPr>
          <a:xfrm>
            <a:off x="4660553" y="3537421"/>
            <a:ext cx="3987329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Dataset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4660553" y="3843933"/>
            <a:ext cx="3987329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20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Kaggle Product Dataset — real-world product catalog with descriptions, categories, and metadata.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7853700" y="4800600"/>
            <a:ext cx="1290300" cy="34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/>
          <p:nvPr/>
        </p:nvSpPr>
        <p:spPr>
          <a:xfrm>
            <a:off x="496119" y="497309"/>
            <a:ext cx="8151763" cy="380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Inter" panose="02000503000000020004"/>
              <a:buNone/>
            </a:pPr>
            <a:r>
              <a:rPr lang="en-US" sz="2750" b="1" i="0" u="sng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System Workflow</a:t>
            </a:r>
            <a:endParaRPr sz="2750" b="0" i="0" u="sng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496119" y="1087338"/>
            <a:ext cx="8608963" cy="181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 panose="02000503000000020004"/>
              <a:buNone/>
            </a:pPr>
            <a:r>
              <a:rPr lang="en-US" sz="12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recommendation pipeline transforms raw product data into ranked, relevant suggestions through six sequential stages.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4" name="Google Shape;114;p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26641" y="1549745"/>
            <a:ext cx="7890645" cy="296093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9"/>
          <p:cNvSpPr/>
          <p:nvPr/>
        </p:nvSpPr>
        <p:spPr>
          <a:xfrm>
            <a:off x="7002209" y="3513768"/>
            <a:ext cx="1190147" cy="4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 panose="02000503000000020004"/>
              <a:buNone/>
            </a:pPr>
            <a:r>
              <a:rPr lang="en-US" sz="140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Top-5 Recommend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5502299" y="3513768"/>
            <a:ext cx="1190146" cy="4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 panose="02000503000000020004"/>
              <a:buNone/>
            </a:pPr>
            <a:r>
              <a:rPr lang="en-US" sz="140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Compute Cosine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4010540" y="3513768"/>
            <a:ext cx="1190146" cy="4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 panose="02000503000000020004"/>
              <a:buNone/>
            </a:pPr>
            <a:r>
              <a:rPr lang="en-US" sz="140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TF-IDF Vectorize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2518781" y="3513768"/>
            <a:ext cx="1190146" cy="4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 panose="02000503000000020004"/>
              <a:buNone/>
            </a:pPr>
            <a:r>
              <a:rPr lang="en-US" sz="140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Preprocess Data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994415" y="3628401"/>
            <a:ext cx="1190146" cy="229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 panose="02000503000000020004"/>
              <a:buNone/>
            </a:pPr>
            <a:r>
              <a:rPr lang="en-US" sz="140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Load Dataset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496119" y="4464918"/>
            <a:ext cx="8608963" cy="181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 panose="02000503000000020004"/>
              <a:buNone/>
            </a:pPr>
            <a:r>
              <a:rPr lang="en-US" sz="1250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</a:t>
            </a:r>
            <a:r>
              <a:rPr lang="en-US" sz="12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ach product description is cleaned, vectorized, and compared against the entire catalog — delivering ranked recommendations in seconds</a:t>
            </a:r>
            <a:r>
              <a:rPr lang="en-US" sz="9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.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7853700" y="4800600"/>
            <a:ext cx="1290300" cy="34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/>
          <p:nvPr/>
        </p:nvSpPr>
        <p:spPr>
          <a:xfrm>
            <a:off x="496125" y="197023"/>
            <a:ext cx="81519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 panose="02000503000000020004"/>
              <a:buNone/>
            </a:pPr>
            <a:r>
              <a:rPr lang="en-US" sz="2500" b="1" i="0" u="sng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How the </a:t>
            </a:r>
            <a:r>
              <a:rPr lang="en-US" sz="2750" b="1" i="0" u="sng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Recommendation </a:t>
            </a:r>
            <a:r>
              <a:rPr lang="en-US" sz="2500" b="1" i="0" u="sng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Engine Works</a:t>
            </a:r>
            <a:endParaRPr sz="2500" b="0" i="0" u="sng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28" name="Google Shape;128;p10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18575" y="720850"/>
            <a:ext cx="4250625" cy="44072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0"/>
          <p:cNvSpPr/>
          <p:nvPr/>
        </p:nvSpPr>
        <p:spPr>
          <a:xfrm>
            <a:off x="4748125" y="1448451"/>
            <a:ext cx="39867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 panose="02000503000000020004"/>
              <a:buNone/>
            </a:pPr>
            <a:r>
              <a:rPr lang="en-US" b="1" i="0" u="none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From Selection to Suggestion</a:t>
            </a:r>
            <a:endParaRPr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4665900" y="1873542"/>
            <a:ext cx="3986700" cy="10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50"/>
              <a:buFont typeface="Inter" panose="02000503000000020004"/>
              <a:buNone/>
            </a:pPr>
            <a:r>
              <a:rPr lang="en-US" sz="12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system operates entirely on product content — no user history or ratings required. TF-IDF captures the uniqueness of each word in a description, while Cosine Similarity quantifies how closely two products align semantically.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4665900" y="3059077"/>
            <a:ext cx="3986700" cy="709500"/>
          </a:xfrm>
          <a:prstGeom prst="roundRect">
            <a:avLst>
              <a:gd name="adj" fmla="val 10915"/>
            </a:avLst>
          </a:prstGeom>
          <a:solidFill>
            <a:srgbClr val="DADB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" name="Google Shape;132;p10"/>
          <p:cNvSpPr/>
          <p:nvPr/>
        </p:nvSpPr>
        <p:spPr>
          <a:xfrm>
            <a:off x="4821150" y="3118698"/>
            <a:ext cx="3676200" cy="7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Inter" panose="02000503000000020004"/>
              <a:buNone/>
            </a:pPr>
            <a:r>
              <a:rPr lang="en-US" sz="1250" b="0" i="0" u="none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This content-based approach works even for new products with no interaction history — solving the cold-start problem.</a:t>
            </a:r>
            <a:endParaRPr sz="12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7853700" y="4800600"/>
            <a:ext cx="1290300" cy="34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/>
          <p:nvPr/>
        </p:nvSpPr>
        <p:spPr>
          <a:xfrm>
            <a:off x="330100" y="190749"/>
            <a:ext cx="81519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 panose="02000503000000020004"/>
              <a:buNone/>
            </a:pPr>
            <a:r>
              <a:rPr lang="en-US" sz="2750" b="1" i="0" u="sng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System Architecture</a:t>
            </a:r>
            <a:endParaRPr sz="2750" b="0" i="0" u="sng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0" name="Google Shape;140;p11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81725" y="750575"/>
            <a:ext cx="3796425" cy="433842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1"/>
          <p:cNvSpPr/>
          <p:nvPr/>
        </p:nvSpPr>
        <p:spPr>
          <a:xfrm>
            <a:off x="3988885" y="687250"/>
            <a:ext cx="44931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4"/>
              <a:buFont typeface="Inter" panose="02000503000000020004"/>
              <a:buNone/>
            </a:pPr>
            <a:r>
              <a:rPr lang="en-US" sz="1285" b="1" i="0" u="none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Architecture Layers</a:t>
            </a:r>
            <a:endParaRPr sz="1285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2" name="Google Shape;142;p11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978150" y="1169470"/>
            <a:ext cx="2230698" cy="114137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1"/>
          <p:cNvSpPr/>
          <p:nvPr/>
        </p:nvSpPr>
        <p:spPr>
          <a:xfrm>
            <a:off x="4092708" y="1200707"/>
            <a:ext cx="21159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84"/>
              <a:buFont typeface="Inter" panose="02000503000000020004"/>
              <a:buNone/>
            </a:pPr>
            <a:r>
              <a:rPr lang="en-US" sz="1285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User Interface</a:t>
            </a:r>
            <a:endParaRPr sz="1285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4092708" y="1698791"/>
            <a:ext cx="2115900" cy="5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2"/>
              <a:buFont typeface="Inter" panose="02000503000000020004"/>
              <a:buNone/>
            </a:pPr>
            <a:r>
              <a:rPr lang="en-US" sz="11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Browser-based frontend for product selection and result display.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5" name="Google Shape;145;p11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51200" y="1169470"/>
            <a:ext cx="2230698" cy="114137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1"/>
          <p:cNvSpPr/>
          <p:nvPr/>
        </p:nvSpPr>
        <p:spPr>
          <a:xfrm>
            <a:off x="6365759" y="1200707"/>
            <a:ext cx="21159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84"/>
              <a:buFont typeface="Inter" panose="02000503000000020004"/>
              <a:buNone/>
            </a:pPr>
            <a:r>
              <a:rPr lang="en-US" sz="1285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Flask Backend</a:t>
            </a:r>
            <a:endParaRPr sz="1285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6365759" y="1698791"/>
            <a:ext cx="2115900" cy="2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2"/>
              <a:buFont typeface="Inter" panose="02000503000000020004"/>
              <a:buNone/>
            </a:pPr>
            <a:r>
              <a:rPr lang="en-US" sz="11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Python server orchestrating requests and responses.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8" name="Google Shape;148;p11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978150" y="2495578"/>
            <a:ext cx="2230698" cy="114137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1"/>
          <p:cNvSpPr/>
          <p:nvPr/>
        </p:nvSpPr>
        <p:spPr>
          <a:xfrm>
            <a:off x="4092708" y="2526815"/>
            <a:ext cx="21159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84"/>
              <a:buFont typeface="Inter" panose="02000503000000020004"/>
              <a:buNone/>
            </a:pPr>
            <a:r>
              <a:rPr lang="en-US" sz="1285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Recommendation Engine</a:t>
            </a:r>
            <a:endParaRPr sz="1285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4092708" y="3024898"/>
            <a:ext cx="2115900" cy="5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2"/>
              <a:buFont typeface="Inter" panose="02000503000000020004"/>
              <a:buNone/>
            </a:pPr>
            <a:r>
              <a:rPr lang="en-US" sz="11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TF-IDF vectorization and Cosine Similarity computation core.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1" name="Google Shape;151;p11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51200" y="2495578"/>
            <a:ext cx="2230698" cy="114137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1"/>
          <p:cNvSpPr/>
          <p:nvPr/>
        </p:nvSpPr>
        <p:spPr>
          <a:xfrm>
            <a:off x="6365759" y="2526815"/>
            <a:ext cx="21159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84"/>
              <a:buFont typeface="Inter" panose="02000503000000020004"/>
              <a:buNone/>
            </a:pPr>
            <a:r>
              <a:rPr lang="en-US" sz="1285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Kaggle Dataset</a:t>
            </a:r>
            <a:endParaRPr sz="1285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6323150" y="2921192"/>
            <a:ext cx="21159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2"/>
              <a:buFont typeface="Inter" panose="02000503000000020004"/>
              <a:buNone/>
            </a:pPr>
            <a:r>
              <a:rPr lang="en-US" sz="11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Source of product descriptions and metadata.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4" name="Google Shape;154;p11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978150" y="3821686"/>
            <a:ext cx="4503748" cy="85096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1"/>
          <p:cNvSpPr/>
          <p:nvPr/>
        </p:nvSpPr>
        <p:spPr>
          <a:xfrm>
            <a:off x="4092708" y="3852923"/>
            <a:ext cx="43893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84"/>
              <a:buFont typeface="Inter" panose="02000503000000020004"/>
              <a:buNone/>
            </a:pPr>
            <a:r>
              <a:rPr lang="en-US" sz="1285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Recommendation Output</a:t>
            </a:r>
            <a:endParaRPr sz="1285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4092708" y="4351006"/>
            <a:ext cx="4389300" cy="2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2"/>
              <a:buFont typeface="Inter" panose="02000503000000020004"/>
              <a:buNone/>
            </a:pPr>
            <a:r>
              <a:rPr lang="en-US" sz="11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Ranked Top-5 similar products returned to the user.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7481262" y="4800600"/>
            <a:ext cx="1146300" cy="34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" name="Rectangle 1"/>
          <p:cNvSpPr/>
          <p:nvPr/>
        </p:nvSpPr>
        <p:spPr>
          <a:xfrm>
            <a:off x="8532495" y="4804410"/>
            <a:ext cx="611505" cy="3390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/>
          <p:nvPr/>
        </p:nvSpPr>
        <p:spPr>
          <a:xfrm>
            <a:off x="186594" y="144021"/>
            <a:ext cx="8151900" cy="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 panose="02000503000000020004"/>
              <a:buNone/>
            </a:pPr>
            <a:r>
              <a:rPr lang="en-US" sz="2700" b="1" i="0" u="sng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Results &amp; </a:t>
            </a:r>
            <a:r>
              <a:rPr lang="en-US" sz="2750" b="1" i="0" u="sng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Demonstration</a:t>
            </a:r>
            <a:endParaRPr sz="2750" b="0" i="0" u="sng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186600" y="783219"/>
            <a:ext cx="86088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 panose="02000503000000020004"/>
              <a:buNone/>
            </a:pPr>
            <a:r>
              <a:rPr lang="en-US" sz="13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deployed system successfully generates relevant product recommendations with a responsive, intuitive interface.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294294" y="4055792"/>
            <a:ext cx="2602800" cy="2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Home Page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282400" y="4273899"/>
            <a:ext cx="26028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 panose="02000503000000020004"/>
              <a:buNone/>
            </a:pPr>
            <a:r>
              <a:rPr lang="en-US" sz="13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Intuitive landing interface allowing users to browse and select products.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3270585" y="3988142"/>
            <a:ext cx="2602800" cy="2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Product Details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3270563" y="4273900"/>
            <a:ext cx="2602800" cy="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 panose="02000503000000020004"/>
              <a:buNone/>
            </a:pPr>
            <a:r>
              <a:rPr lang="en-US" sz="13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Selected product displayed with full description used for similarity matching.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6130476" y="3988179"/>
            <a:ext cx="2602800" cy="2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 panose="02000503000000020004"/>
              <a:buNone/>
            </a:pPr>
            <a:r>
              <a:rPr lang="en-US" sz="13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Recommendation Output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6130500" y="4327000"/>
            <a:ext cx="26028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 panose="02000503000000020004"/>
              <a:buNone/>
            </a:pPr>
            <a:r>
              <a:rPr lang="en-US" sz="13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Top-5 similar products ranked and displayed instantly after selection.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7853700" y="4800600"/>
            <a:ext cx="1290300" cy="34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72" name="Google Shape;172;p1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86600" y="1472825"/>
            <a:ext cx="2818201" cy="239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996825" y="1128687"/>
            <a:ext cx="2818200" cy="2859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856037" y="1438988"/>
            <a:ext cx="3151675" cy="239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/>
          <p:nvPr/>
        </p:nvSpPr>
        <p:spPr>
          <a:xfrm>
            <a:off x="496119" y="411287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Inter" panose="02000503000000020004"/>
              <a:buNone/>
            </a:pPr>
            <a:r>
              <a:rPr lang="en-US" sz="2850" b="1" i="0" u="sng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Advantages &amp; Applications</a:t>
            </a:r>
            <a:endParaRPr sz="2850" b="0" i="0" u="sng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496119" y="1208633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 panose="02000503000000020004"/>
              <a:buNone/>
            </a:pPr>
            <a:r>
              <a:rPr lang="en-US" sz="1550" b="1" i="0" u="none" strike="noStrike" cap="none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Key Advantages</a:t>
            </a:r>
            <a:endParaRPr sz="15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2" name="Google Shape;182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49250" y="1596628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3"/>
          <p:cNvSpPr/>
          <p:nvPr/>
        </p:nvSpPr>
        <p:spPr>
          <a:xfrm>
            <a:off x="956816" y="1589559"/>
            <a:ext cx="3442246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29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No user history required</a:t>
            </a:r>
            <a:r>
              <a:rPr lang="en-US" sz="129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— works purely on product content</a:t>
            </a:r>
            <a:endParaRPr sz="129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4" name="Google Shape;184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49250" y="2333774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3"/>
          <p:cNvSpPr/>
          <p:nvPr/>
        </p:nvSpPr>
        <p:spPr>
          <a:xfrm>
            <a:off x="956816" y="2326704"/>
            <a:ext cx="3442246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29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Fast generation</a:t>
            </a:r>
            <a:r>
              <a:rPr lang="en-US" sz="129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— lightweight computation, near-instant results</a:t>
            </a:r>
            <a:endParaRPr sz="129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6" name="Google Shape;186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49250" y="3070920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3"/>
          <p:cNvSpPr/>
          <p:nvPr/>
        </p:nvSpPr>
        <p:spPr>
          <a:xfrm>
            <a:off x="956816" y="3063850"/>
            <a:ext cx="3442246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29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Simple &amp; scalable</a:t>
            </a:r>
            <a:r>
              <a:rPr lang="en-US" sz="129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— easy to implement and extend</a:t>
            </a:r>
            <a:endParaRPr sz="129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8" name="Google Shape;188;p1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49250" y="3808065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3"/>
          <p:cNvSpPr/>
          <p:nvPr/>
        </p:nvSpPr>
        <p:spPr>
          <a:xfrm>
            <a:off x="956816" y="3800996"/>
            <a:ext cx="3442246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 panose="02000503000000020004"/>
              <a:buNone/>
            </a:pPr>
            <a:r>
              <a:rPr lang="en-US" sz="129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Improves discovery</a:t>
            </a:r>
            <a:r>
              <a:rPr lang="en-US" sz="129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— surfaces relevant items users might miss</a:t>
            </a:r>
            <a:endParaRPr sz="129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4647605" y="1135324"/>
            <a:ext cx="4107000" cy="3665400"/>
          </a:xfrm>
          <a:prstGeom prst="roundRect">
            <a:avLst>
              <a:gd name="adj" fmla="val 278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13"/>
          <p:cNvSpPr/>
          <p:nvPr/>
        </p:nvSpPr>
        <p:spPr>
          <a:xfrm>
            <a:off x="4789363" y="1208633"/>
            <a:ext cx="3823618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 panose="02000503000000020004"/>
              <a:buNone/>
            </a:pPr>
            <a:r>
              <a:rPr lang="en-US" sz="1550" b="1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Real-World Applications</a:t>
            </a:r>
            <a:endParaRPr sz="15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4789170" y="1571625"/>
            <a:ext cx="3931920" cy="126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3520" marR="0" lvl="0" indent="-22987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 panose="02000503000000020004"/>
              <a:buChar char="•"/>
            </a:pPr>
            <a:r>
              <a:rPr lang="en-US" altLang="en-US" sz="129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E-commerce platforms</a:t>
            </a:r>
            <a:endParaRPr lang="en-US" altLang="en-US" sz="129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223520" marR="0" lvl="0" indent="-22987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 panose="02000503000000020004"/>
              <a:buChar char="•"/>
            </a:pPr>
            <a:r>
              <a:rPr lang="en-US" altLang="en-US" sz="129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Online shopping website</a:t>
            </a:r>
            <a:endParaRPr lang="en-US" altLang="en-US" sz="129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223520" marR="0" lvl="0" indent="-22987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 panose="02000503000000020004"/>
              <a:buChar char="•"/>
            </a:pPr>
            <a:r>
              <a:rPr lang="en-US" altLang="en-US" sz="129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Retail inventory system</a:t>
            </a:r>
            <a:endParaRPr lang="en-US" altLang="en-US" sz="129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223520" marR="0" lvl="0" indent="-22987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 panose="02000503000000020004"/>
              <a:buChar char="•"/>
            </a:pPr>
            <a:r>
              <a:rPr lang="en-US" altLang="en-US" sz="1290" b="0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Educational projects</a:t>
            </a:r>
            <a:endParaRPr lang="en-US" altLang="en-US" sz="1290" b="0" i="0" u="none" strike="noStrike" cap="none">
              <a:solidFill>
                <a:schemeClr val="dk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3" name="Google Shape;193;p13"/>
          <p:cNvSpPr/>
          <p:nvPr/>
        </p:nvSpPr>
        <p:spPr>
          <a:xfrm rot="21360000" flipV="1">
            <a:off x="4789170" y="2684780"/>
            <a:ext cx="3823335" cy="137795"/>
          </a:xfrm>
          <a:prstGeom prst="roundRect">
            <a:avLst>
              <a:gd name="adj" fmla="val 60000"/>
            </a:avLst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13"/>
          <p:cNvSpPr/>
          <p:nvPr/>
        </p:nvSpPr>
        <p:spPr>
          <a:xfrm>
            <a:off x="4824923" y="2837225"/>
            <a:ext cx="3823618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 panose="02000503000000020004"/>
              <a:buNone/>
            </a:pPr>
            <a:r>
              <a:rPr lang="en-US" sz="1550" b="1" i="0" u="none" strike="noStrike" cap="none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Future Scope</a:t>
            </a:r>
            <a:endParaRPr sz="15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4789170" y="3101975"/>
            <a:ext cx="3823335" cy="1580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3520" marR="0" lvl="0" indent="-22987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 panose="02000503000000020004"/>
              <a:buChar char="•"/>
            </a:pPr>
            <a:r>
              <a:rPr lang="en-US" altLang="en-US" sz="1290" b="1" i="0" u="none" strike="noStrike" cap="none">
                <a:solidFill>
                  <a:schemeClr val="dk1"/>
                </a:solidFill>
                <a:latin typeface="inter" panose="02000503000000020004" charset="0"/>
                <a:ea typeface="Calibri" panose="020F0502020204030204"/>
                <a:cs typeface="inter" panose="02000503000000020004" charset="0"/>
                <a:sym typeface="Calibri" panose="020F0502020204030204"/>
              </a:rPr>
              <a:t>Personalization: Integrate user ratings and purchase history.</a:t>
            </a:r>
            <a:endParaRPr lang="en-US" altLang="en-US" sz="1290" b="1" i="0" u="none" strike="noStrike" cap="none">
              <a:solidFill>
                <a:schemeClr val="dk1"/>
              </a:solidFill>
              <a:latin typeface="inter" panose="02000503000000020004" charset="0"/>
              <a:ea typeface="Calibri" panose="020F0502020204030204"/>
              <a:cs typeface="inter" panose="02000503000000020004" charset="0"/>
              <a:sym typeface="Calibri" panose="020F0502020204030204"/>
            </a:endParaRPr>
          </a:p>
          <a:p>
            <a:pPr marL="223520" marR="0" lvl="0" indent="-22987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 panose="02000503000000020004"/>
              <a:buChar char="•"/>
            </a:pPr>
            <a:r>
              <a:rPr lang="en-US" altLang="en-US" sz="1290" b="1" i="0" u="none" strike="noStrike" cap="none">
                <a:solidFill>
                  <a:schemeClr val="dk1"/>
                </a:solidFill>
                <a:latin typeface="inter" panose="02000503000000020004" charset="0"/>
                <a:ea typeface="Calibri" panose="020F0502020204030204"/>
                <a:cs typeface="inter" panose="02000503000000020004" charset="0"/>
                <a:sym typeface="Calibri" panose="020F0502020204030204"/>
              </a:rPr>
              <a:t>Advanced NLP: Improve recommendation accuracy.</a:t>
            </a:r>
            <a:endParaRPr lang="en-US" altLang="en-US" sz="1290" b="1" i="0" u="none" strike="noStrike" cap="none">
              <a:solidFill>
                <a:schemeClr val="dk1"/>
              </a:solidFill>
              <a:latin typeface="inter" panose="02000503000000020004" charset="0"/>
              <a:ea typeface="Calibri" panose="020F0502020204030204"/>
              <a:cs typeface="inter" panose="02000503000000020004" charset="0"/>
              <a:sym typeface="Calibri" panose="020F0502020204030204"/>
            </a:endParaRPr>
          </a:p>
          <a:p>
            <a:pPr marL="223520" marR="0" lvl="0" indent="-22987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 panose="02000503000000020004"/>
              <a:buChar char="•"/>
            </a:pPr>
            <a:r>
              <a:rPr lang="en-US" altLang="en-US" sz="1290" b="1" i="0" u="none" strike="noStrike" cap="none">
                <a:solidFill>
                  <a:schemeClr val="dk1"/>
                </a:solidFill>
                <a:latin typeface="inter" panose="02000503000000020004" charset="0"/>
                <a:ea typeface="Calibri" panose="020F0502020204030204"/>
                <a:cs typeface="inter" panose="02000503000000020004" charset="0"/>
                <a:sym typeface="Calibri" panose="020F0502020204030204"/>
              </a:rPr>
              <a:t>Enhanced Features: Add search and product filters.</a:t>
            </a:r>
            <a:endParaRPr lang="en-US" altLang="en-US" sz="1290" b="1" i="0" u="none" strike="noStrike" cap="none">
              <a:solidFill>
                <a:schemeClr val="dk1"/>
              </a:solidFill>
              <a:latin typeface="inter" panose="02000503000000020004" charset="0"/>
              <a:ea typeface="Calibri" panose="020F0502020204030204"/>
              <a:cs typeface="inter" panose="02000503000000020004" charset="0"/>
              <a:sym typeface="Calibri" panose="020F0502020204030204"/>
            </a:endParaRPr>
          </a:p>
          <a:p>
            <a:pPr marL="223520" marR="0" lvl="0" indent="-22987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 panose="02000503000000020004"/>
              <a:buChar char="•"/>
            </a:pPr>
            <a:r>
              <a:rPr lang="en-US" altLang="en-US" sz="1290" b="1" i="0" u="none" strike="noStrike" cap="none">
                <a:solidFill>
                  <a:schemeClr val="dk1"/>
                </a:solidFill>
                <a:latin typeface="inter" panose="02000503000000020004" charset="0"/>
                <a:ea typeface="Calibri" panose="020F0502020204030204"/>
                <a:cs typeface="inter" panose="02000503000000020004" charset="0"/>
                <a:sym typeface="Calibri" panose="020F0502020204030204"/>
              </a:rPr>
              <a:t>Online Deployment</a:t>
            </a:r>
            <a:endParaRPr lang="en-US" altLang="en-US" sz="1290" b="1" i="0" u="none" strike="noStrike" cap="none">
              <a:solidFill>
                <a:schemeClr val="dk1"/>
              </a:solidFill>
              <a:latin typeface="inter" panose="02000503000000020004" charset="0"/>
              <a:ea typeface="Calibri" panose="020F0502020204030204"/>
              <a:cs typeface="inter" panose="02000503000000020004" charset="0"/>
              <a:sym typeface="Calibri" panose="020F0502020204030204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7853700" y="4800600"/>
            <a:ext cx="1290300" cy="34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/>
          <p:nvPr/>
        </p:nvSpPr>
        <p:spPr>
          <a:xfrm>
            <a:off x="395460" y="267931"/>
            <a:ext cx="2833800" cy="118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>
                <a:solidFill>
                  <a:srgbClr val="0F172A"/>
                </a:solidFill>
                <a:latin typeface="inter" panose="02000503000000020004" charset="0"/>
                <a:cs typeface="inter" panose="02000503000000020004" charset="0"/>
              </a:rPr>
              <a:t>Conclusion</a:t>
            </a:r>
            <a:endParaRPr sz="2950" b="1" u="sng">
              <a:solidFill>
                <a:srgbClr val="0F172A"/>
              </a:solidFill>
              <a:latin typeface="inter" panose="02000503000000020004" charset="0"/>
              <a:cs typeface="inter" panose="0200050300000002000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None/>
            </a:pPr>
            <a:endParaRPr sz="1100" u="sng">
              <a:solidFill>
                <a:schemeClr val="dk1"/>
              </a:solidFill>
              <a:latin typeface="inter" panose="02000503000000020004" charset="0"/>
              <a:cs typeface="inter" panose="02000503000000020004" charset="0"/>
            </a:endParaRPr>
          </a:p>
        </p:txBody>
      </p:sp>
      <p:pic>
        <p:nvPicPr>
          <p:cNvPr id="204" name="Google Shape;204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917725" y="1087175"/>
            <a:ext cx="2921474" cy="3710862"/>
          </a:xfrm>
          <a:prstGeom prst="rect">
            <a:avLst/>
          </a:prstGeom>
          <a:noFill/>
          <a:ln>
            <a:noFill/>
          </a:ln>
        </p:spPr>
      </p:pic>
      <p:sp>
        <p:nvSpPr>
          <p:cNvPr id="1" name="Text Box 0"/>
          <p:cNvSpPr txBox="1"/>
          <p:nvPr/>
        </p:nvSpPr>
        <p:spPr>
          <a:xfrm>
            <a:off x="195580" y="1016000"/>
            <a:ext cx="5498465" cy="340233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inter" panose="02000503000000020004" charset="0"/>
                <a:cs typeface="inter" panose="02000503000000020004" charset="0"/>
              </a:rPr>
              <a:t>Core Development: Successfully developed a content-based Product Recommendation System using TF-IDF and Cosine Similarity.</a:t>
            </a:r>
            <a:endParaRPr lang="en-US" altLang="en-US">
              <a:latin typeface="inter" panose="02000503000000020004" charset="0"/>
              <a:cs typeface="inter" panose="020005030000000200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inter" panose="02000503000000020004" charset="0"/>
              <a:cs typeface="inter" panose="0200050300000002000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inter" panose="02000503000000020004" charset="0"/>
                <a:cs typeface="inter" panose="02000503000000020004" charset="0"/>
              </a:rPr>
              <a:t>Top-5 Recommendations: Recommends the Top-5 similar products without requiring user ratings or purchase history.</a:t>
            </a:r>
            <a:endParaRPr lang="en-US" altLang="en-US">
              <a:latin typeface="inter" panose="02000503000000020004" charset="0"/>
              <a:cs typeface="inter" panose="0200050300000002000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inter" panose="02000503000000020004" charset="0"/>
              <a:cs typeface="inter" panose="0200050300000002000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inter" panose="02000503000000020004" charset="0"/>
                <a:cs typeface="inter" panose="02000503000000020004" charset="0"/>
              </a:rPr>
              <a:t>Validated Results: Recommendations were manually verified and found to be relevant across different product categories.</a:t>
            </a:r>
            <a:endParaRPr lang="en-US" altLang="en-US">
              <a:latin typeface="inter" panose="02000503000000020004" charset="0"/>
              <a:cs typeface="inter" panose="0200050300000002000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inter" panose="02000503000000020004" charset="0"/>
              <a:cs typeface="inter" panose="0200050300000002000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inter" panose="02000503000000020004" charset="0"/>
                <a:cs typeface="inter" panose="02000503000000020004" charset="0"/>
              </a:rPr>
              <a:t>Improved Discovery: Enhances product discovery by recommending items with similar textual descriptions.</a:t>
            </a:r>
            <a:endParaRPr lang="en-US" altLang="en-US">
              <a:latin typeface="inter" panose="02000503000000020004" charset="0"/>
              <a:cs typeface="inter" panose="0200050300000002000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>
              <a:latin typeface="inter" panose="02000503000000020004" charset="0"/>
              <a:cs typeface="inter" panose="0200050300000002000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>
                <a:latin typeface="inter" panose="02000503000000020004" charset="0"/>
                <a:cs typeface="inter" panose="02000503000000020004" charset="0"/>
              </a:rPr>
              <a:t>Practical Implementation: Demonstrates the practical application of Machine Learning, NLP, and Flask in a simple web-based system.</a:t>
            </a:r>
            <a:endParaRPr lang="en-US">
              <a:latin typeface="inter" panose="02000503000000020004" charset="0"/>
              <a:cs typeface="inter" panose="020005030000000200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"/>
          <p:cNvSpPr txBox="1"/>
          <p:nvPr/>
        </p:nvSpPr>
        <p:spPr>
          <a:xfrm>
            <a:off x="226350" y="289275"/>
            <a:ext cx="3000000" cy="612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  <a:endParaRPr sz="2800" u="sng"/>
          </a:p>
        </p:txBody>
      </p:sp>
      <p:sp>
        <p:nvSpPr>
          <p:cNvPr id="211" name="Google Shape;211;p15"/>
          <p:cNvSpPr txBox="1"/>
          <p:nvPr/>
        </p:nvSpPr>
        <p:spPr>
          <a:xfrm>
            <a:off x="395605" y="953770"/>
            <a:ext cx="8194675" cy="390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</a:rPr>
              <a:t>[1]</a:t>
            </a:r>
            <a:r>
              <a:rPr lang="en-US" sz="1300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 </a:t>
            </a:r>
            <a:r>
              <a:rPr lang="en-US" sz="1300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Aggarwal, C. C. (2016). </a:t>
            </a:r>
            <a:r>
              <a:rPr lang="en-US" sz="1300" i="1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Recommender Systems: The Textbook</a:t>
            </a:r>
            <a:r>
              <a:rPr lang="en-US" sz="1300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. Springer.</a:t>
            </a:r>
            <a:endParaRPr sz="1300">
              <a:solidFill>
                <a:schemeClr val="dk1"/>
              </a:solidFill>
              <a:latin typeface="inter" panose="02000503000000020004" charset="0"/>
              <a:cs typeface="inter" panose="02000503000000020004" charset="0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[2]</a:t>
            </a:r>
            <a:r>
              <a:rPr lang="en-US" sz="1300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 Géron, A. (2019). </a:t>
            </a:r>
            <a:r>
              <a:rPr lang="en-US" sz="1300" i="1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Hands-On Machine Learning with Scikit-Learn, Keras &amp; TensorFlow</a:t>
            </a:r>
            <a:r>
              <a:rPr lang="en-US" sz="1300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 (2nd ed.). O'Reilly Media.</a:t>
            </a:r>
            <a:endParaRPr sz="1300">
              <a:solidFill>
                <a:schemeClr val="dk1"/>
              </a:solidFill>
              <a:latin typeface="inter" panose="02000503000000020004" charset="0"/>
              <a:cs typeface="inter" panose="02000503000000020004" charset="0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[3]</a:t>
            </a:r>
            <a:r>
              <a:rPr lang="en-US" sz="1300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 Jurafsky, D., &amp; Martin, J. H. (2023). </a:t>
            </a:r>
            <a:r>
              <a:rPr lang="en-US" sz="1300" i="1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Speech and Language Processing</a:t>
            </a:r>
            <a:r>
              <a:rPr lang="en-US" sz="1300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 (3rd ed. draft).</a:t>
            </a:r>
            <a:endParaRPr sz="1300">
              <a:solidFill>
                <a:schemeClr val="dk1"/>
              </a:solidFill>
              <a:latin typeface="inter" panose="02000503000000020004" charset="0"/>
              <a:cs typeface="inter" panose="02000503000000020004" charset="0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[4]</a:t>
            </a:r>
            <a:r>
              <a:rPr lang="en-US" sz="1300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 Lops, P., de Gemmis, M., &amp; Semeraro, G. (2011). </a:t>
            </a:r>
            <a:r>
              <a:rPr lang="en-US" sz="1300" i="1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Content-Based Recommender Systems: State of the Art and Trends</a:t>
            </a:r>
            <a:r>
              <a:rPr lang="en-US" sz="1300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. In </a:t>
            </a:r>
            <a:r>
              <a:rPr lang="en-US" sz="1300" i="1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Recommender Systems Handbook</a:t>
            </a:r>
            <a:r>
              <a:rPr lang="en-US" sz="1300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. Springer.</a:t>
            </a:r>
            <a:endParaRPr sz="1300">
              <a:solidFill>
                <a:schemeClr val="dk1"/>
              </a:solidFill>
              <a:latin typeface="inter" panose="02000503000000020004" charset="0"/>
              <a:cs typeface="inter" panose="02000503000000020004" charset="0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[5]</a:t>
            </a:r>
            <a:r>
              <a:rPr lang="en-US" sz="1300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 Manning, C. D., Raghavan, P., &amp; Schütze, H. (2008). </a:t>
            </a:r>
            <a:r>
              <a:rPr lang="en-US" sz="1300" i="1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Introduction to Information Retrieval</a:t>
            </a:r>
            <a:r>
              <a:rPr lang="en-US" sz="1300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. Cambridge University Press.</a:t>
            </a:r>
            <a:endParaRPr sz="1300">
              <a:solidFill>
                <a:schemeClr val="dk1"/>
              </a:solidFill>
              <a:latin typeface="inter" panose="02000503000000020004" charset="0"/>
              <a:cs typeface="inter" panose="02000503000000020004" charset="0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[6]</a:t>
            </a:r>
            <a:r>
              <a:rPr lang="en-US" sz="1300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 Pallets Projects. (2024). </a:t>
            </a:r>
            <a:r>
              <a:rPr lang="en-US" sz="1300" i="1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Flask Documentation</a:t>
            </a:r>
            <a:r>
              <a:rPr lang="en-US" sz="1300">
                <a:solidFill>
                  <a:schemeClr val="dk1"/>
                </a:solidFill>
                <a:latin typeface="inter" panose="02000503000000020004" charset="0"/>
                <a:cs typeface="inter" panose="02000503000000020004" charset="0"/>
              </a:rPr>
              <a:t>.</a:t>
            </a:r>
            <a:endParaRPr sz="1300">
              <a:solidFill>
                <a:schemeClr val="dk1"/>
              </a:solidFill>
              <a:latin typeface="inter" panose="02000503000000020004" charset="0"/>
              <a:cs typeface="inter" panose="020005030000000200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5412</Words>
  <Application>WPS Presentation</Application>
  <PresentationFormat/>
  <Paragraphs>215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Inter</vt:lpstr>
      <vt:lpstr>Times New Roman</vt:lpstr>
      <vt:lpstr>Microsoft YaHei</vt:lpstr>
      <vt:lpstr>Arial Unicode MS</vt:lpstr>
      <vt:lpstr>inter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Ehtesham Khan</cp:lastModifiedBy>
  <cp:revision>2</cp:revision>
  <dcterms:created xsi:type="dcterms:W3CDTF">2026-07-17T11:39:22Z</dcterms:created>
  <dcterms:modified xsi:type="dcterms:W3CDTF">2026-07-17T11:40:19Z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5337EC98BC354F3A89DE23FB58DD9BA1_13</vt:lpwstr>
  </property>
</Properties>
</file>